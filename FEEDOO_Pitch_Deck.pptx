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36576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36576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6576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21240" y="36576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0" y="36576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36576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86868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15400" y="86868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18320" y="86868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21240" y="86868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24160" y="86868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27080" y="86868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137160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15400" y="137160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137160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21240" y="137160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24160" y="137160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27080" y="137160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18745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15400" y="18745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18320" y="18745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21240" y="18745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24160" y="18745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27080" y="1874520"/>
            <a:ext cx="73152" cy="7315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0058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FEEDOO</a:t>
            </a:r>
            <a:endParaRPr lang="en-US" sz="11200" dirty="0"/>
          </a:p>
        </p:txBody>
      </p:sp>
      <p:sp>
        <p:nvSpPr>
          <p:cNvPr id="28" name="Shape 26"/>
          <p:cNvSpPr/>
          <p:nvPr/>
        </p:nvSpPr>
        <p:spPr>
          <a:xfrm>
            <a:off x="457200" y="2560320"/>
            <a:ext cx="41148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834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More.  Waste Less.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First Dual-Track AI-Powered Food Recovery Network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229600" y="1188720"/>
            <a:ext cx="3657600" cy="4114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29600" y="1371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78.2M</a:t>
            </a:r>
            <a:endParaRPr lang="en-US" sz="7200" dirty="0"/>
          </a:p>
        </p:txBody>
      </p:sp>
      <p:sp>
        <p:nvSpPr>
          <p:cNvPr id="33" name="Text 31"/>
          <p:cNvSpPr/>
          <p:nvPr/>
        </p:nvSpPr>
        <p:spPr>
          <a:xfrm>
            <a:off x="822960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TONNES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321040" y="29260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food wasted in India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year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03920" y="3749040"/>
            <a:ext cx="3108960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194M Indians go hungry.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29600" y="4389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coincidence.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solvable problem.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6419088"/>
            <a:ext cx="1216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FEEDOO  ·  Dual-Track  ·  AI-Powered  ·  FSSAI-Compliant  ·  Self-Sustaining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8288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8899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8 seconds,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India throws away enough food to feed a family.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20040" y="2103120"/>
            <a:ext cx="2651760" cy="3108960"/>
          </a:xfrm>
          <a:prstGeom prst="rect">
            <a:avLst/>
          </a:prstGeom>
          <a:solidFill>
            <a:srgbClr val="131E35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2103120"/>
            <a:ext cx="265176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2860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78.2M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20040" y="3246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Tonnes Wasted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2103120"/>
            <a:ext cx="2651760" cy="3108960"/>
          </a:xfrm>
          <a:prstGeom prst="rect">
            <a:avLst/>
          </a:prstGeom>
          <a:solidFill>
            <a:srgbClr val="131E35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103120"/>
            <a:ext cx="265176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2860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194M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200400" y="3246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Indians Hungry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2103120"/>
            <a:ext cx="2651760" cy="3108960"/>
          </a:xfrm>
          <a:prstGeom prst="rect">
            <a:avLst/>
          </a:prstGeom>
          <a:solidFill>
            <a:srgbClr val="131E35"/>
          </a:solidFill>
          <a:ln w="25400">
            <a:solidFill>
              <a:srgbClr val="F7C9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2103120"/>
            <a:ext cx="2651760" cy="64008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22860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7C9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₹92,651Cr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080760" y="3246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Lost Annually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8076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of India's GDP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61120" y="2103120"/>
            <a:ext cx="2651760" cy="3108960"/>
          </a:xfrm>
          <a:prstGeom prst="rect">
            <a:avLst/>
          </a:prstGeom>
          <a:solidFill>
            <a:srgbClr val="131E35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0" y="2103120"/>
            <a:ext cx="265176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0" y="22860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73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102nd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961120" y="3246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Global Hunger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96112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2025 Rank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5852160"/>
            <a:ext cx="1216152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9436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numbers exist in the same country at the same time. That's not a tragedy. That's a design flaw. And FEEDOO fixes it.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solutions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exist.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20116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They just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don't scale.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" y="35661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why every attempt before FEEDOO has hit a wall.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89120" y="320040"/>
            <a:ext cx="7498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0" y="320040"/>
            <a:ext cx="73152" cy="1417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4297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Robin Hood Army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75895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75,000 volunteers. Zero revenue. Cannot operate 24/7. Cannot scale.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132588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 No Money. No Scale.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892808"/>
            <a:ext cx="7498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892808"/>
            <a:ext cx="73152" cy="1417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002536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Zomato Feeding India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2331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platform add-on. Not a redistribution engine. No cold chain. No beneficiary system.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289864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 Charity Posturing.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3465576"/>
            <a:ext cx="7498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0" y="3465576"/>
            <a:ext cx="73152" cy="1417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575304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Traditional NGOs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63440" y="3904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tech. No traceability. No liability shield. Same 20 people at the corner get food every day.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4471416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 No System. No Dignity.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5038344"/>
            <a:ext cx="7498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0" y="5038344"/>
            <a:ext cx="73152" cy="1417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514807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 Good To Go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63440" y="547725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surplus to paying consumers only. Zero hunger impact. Failed to penetrate India's culture.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6044184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 Wrong Market. Wrong Model.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7315200" cy="7315200"/>
          </a:xfrm>
          <a:prstGeom prst="ellipse">
            <a:avLst/>
          </a:prstGeom>
          <a:solidFill>
            <a:srgbClr val="0F3460">
              <a:alpha val="40000"/>
            </a:srgbClr>
          </a:solidFill>
          <a:ln w="12700">
            <a:solidFill>
              <a:srgbClr val="0F3460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FEEDOO</a:t>
            </a:r>
            <a:endParaRPr lang="en-US" sz="10000" dirty="0"/>
          </a:p>
        </p:txBody>
      </p:sp>
      <p:sp>
        <p:nvSpPr>
          <p:cNvPr id="5" name="Shape 3"/>
          <p:cNvSpPr/>
          <p:nvPr/>
        </p:nvSpPr>
        <p:spPr>
          <a:xfrm>
            <a:off x="3200400" y="2514600"/>
            <a:ext cx="576072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432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First Dual-Track, AI-Powered, IoT-Monitored,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Micro-Hub Food Recovery Network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4023360"/>
            <a:ext cx="3657600" cy="2286000"/>
          </a:xfrm>
          <a:prstGeom prst="rect">
            <a:avLst/>
          </a:prstGeom>
          <a:solidFill>
            <a:srgbClr val="131E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4160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Commercial Track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0749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users buy surplus meals at 40-70% off. Revenue funds free meals for the hungry.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4023360"/>
            <a:ext cx="3657600" cy="2286000"/>
          </a:xfrm>
          <a:prstGeom prst="rect">
            <a:avLst/>
          </a:prstGeom>
          <a:solidFill>
            <a:srgbClr val="131E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43400" y="4160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❤️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34340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Track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0560" y="50749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transformed into fresh, dignified meals at Micro-Hubs. Served free. Always.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4023360"/>
            <a:ext cx="3657600" cy="2286000"/>
          </a:xfrm>
          <a:prstGeom prst="rect">
            <a:avLst/>
          </a:prstGeom>
          <a:solidFill>
            <a:srgbClr val="131E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83880" y="4160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183880" y="4663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Flywheel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21040" y="50749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funds Track B. The more we sell, the more we feed. Business model = social mission.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Model That Changes Everything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tracks. One platform. A self-funding loop that didn't exist before FEEDOO.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120640" cy="4937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630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 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COMMERCIAL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438912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606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Eco-conscious paying consumers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1729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 Surplus meals at 40–70% off market price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73989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Browse, choose, pick up via FEEDOO app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43068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30% of revenue cross-funds Track 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48737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Every purchase = meals for the hungry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23560" y="3611880"/>
            <a:ext cx="822960" cy="54864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3291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C9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23560" y="3566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7C948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675120" y="1371600"/>
            <a:ext cx="5120640" cy="4937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14630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 B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675120" y="1920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040880" y="2423160"/>
            <a:ext cx="438912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606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  Verified beneficiary communities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31729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🍲  Surplus transformed into FRESH meals at Micro-Hubs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373989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  SHG women cook. Community coordinators distribute.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43068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FEEDOO Welfare Card — equitable, dignified access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48737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Recipients get restaurant-quality meals. Always free.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Innovation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One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Else Has.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65760" y="2651760"/>
            <a:ext cx="402336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834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FEEDOO MICRO-HUB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333756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compact, FSSAI-certified community kitchen (150–300 sq ft) installed inside existing spaces — temples, community centres, school kitchens.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INGREDIENTS go in. Fresh, hot, dignified MEALS come out.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SHG women are paid per meal prepared. Not volunteers. Employees.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320040"/>
            <a:ext cx="2194560" cy="6217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0" y="320040"/>
            <a:ext cx="219456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502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0" y="1097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INPUTS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66360" y="1691640"/>
            <a:ext cx="192024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1691640"/>
            <a:ext cx="1920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cooked food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66360" y="2697480"/>
            <a:ext cx="192024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2697480"/>
            <a:ext cx="1920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ingredients &amp; dal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66360" y="3703320"/>
            <a:ext cx="192024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3703320"/>
            <a:ext cx="1920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Near-expiry packaged food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66360" y="4709160"/>
            <a:ext cx="192024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4709160"/>
            <a:ext cx="1920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 surplus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42048" y="30632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74C3C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360920" y="320040"/>
            <a:ext cx="2194560" cy="6217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60920" y="320040"/>
            <a:ext cx="219456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502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360920" y="1097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98080" y="1691640"/>
            <a:ext cx="192024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1691640"/>
            <a:ext cx="1920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SHG women prepare meals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98080" y="2697480"/>
            <a:ext cx="192024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2697480"/>
            <a:ext cx="1920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FSSAI-standard recipes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98080" y="3703320"/>
            <a:ext cx="192024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3703320"/>
            <a:ext cx="1920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Allergen segregation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98080" y="4709160"/>
            <a:ext cx="192024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4709160"/>
            <a:ext cx="1920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Quality-checked &amp; sealed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73768" y="30632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35"/>
                </a:solidFill>
              </a:rPr>
              <a:t>→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9692640" y="320040"/>
            <a:ext cx="2194560" cy="6217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692640" y="320040"/>
            <a:ext cx="219456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2640" y="5029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🍱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9692640" y="1097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829800" y="1691640"/>
            <a:ext cx="192024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29800" y="1691640"/>
            <a:ext cx="1920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Fresh, hot portioned meals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829800" y="2697480"/>
            <a:ext cx="192024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29800" y="2697480"/>
            <a:ext cx="1920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Restaurant-style packaging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829800" y="3703320"/>
            <a:ext cx="192024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29800" y="3703320"/>
            <a:ext cx="1920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mention of 'donation'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829800" y="4709160"/>
            <a:ext cx="1920240" cy="8686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29800" y="4709160"/>
            <a:ext cx="19202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via Welfare Card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Like a Tech Company.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Like a Logistics Company. Feeds Like an NGO.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1508760"/>
            <a:ext cx="2743200" cy="4937760"/>
          </a:xfrm>
          <a:prstGeom prst="rect">
            <a:avLst/>
          </a:prstGeom>
          <a:solidFill>
            <a:srgbClr val="131E35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508760"/>
            <a:ext cx="27432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91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2331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SURPLUS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154680"/>
            <a:ext cx="2377440" cy="36576"/>
          </a:xfrm>
          <a:prstGeom prst="rect">
            <a:avLst/>
          </a:prstGeom>
          <a:solidFill>
            <a:srgbClr val="FF6B35">
              <a:alpha val="50000"/>
            </a:srgbClr>
          </a:solidFill>
          <a:ln w="12700">
            <a:solidFill>
              <a:srgbClr val="FF6B35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37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Predicts surplus by 6 PM daily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75% accuracy before food exists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65429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Pre-positions riders within 2 km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531266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Collapses pickup time: 90min → 40min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46120" y="1508760"/>
            <a:ext cx="2743200" cy="4937760"/>
          </a:xfrm>
          <a:prstGeom prst="rect">
            <a:avLst/>
          </a:prstGeom>
          <a:solidFill>
            <a:srgbClr val="131E35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508760"/>
            <a:ext cx="27432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691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🌡️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246120" y="2331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73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IoT THERMBAG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D73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29000" y="3154680"/>
            <a:ext cx="2377440" cy="36576"/>
          </a:xfrm>
          <a:prstGeom prst="rect">
            <a:avLst/>
          </a:prstGeom>
          <a:solidFill>
            <a:srgbClr val="0D7377">
              <a:alpha val="50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3337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Bluetooth temp sensor in every bag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8328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Reads every 5 minutes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383280" y="465429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unsafe → QR code won't generate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83280" y="531266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Hard technical block. Not a policy.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72200" y="1508760"/>
            <a:ext cx="2743200" cy="4937760"/>
          </a:xfrm>
          <a:prstGeom prst="rect">
            <a:avLst/>
          </a:prstGeom>
          <a:solidFill>
            <a:srgbClr val="131E35"/>
          </a:solidFill>
          <a:ln w="25400">
            <a:solidFill>
              <a:srgbClr val="F7C9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1508760"/>
            <a:ext cx="2743200" cy="64008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691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🔗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172200" y="2331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C9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FOOD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7C9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PASSPORT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55080" y="3154680"/>
            <a:ext cx="2377440" cy="36576"/>
          </a:xfrm>
          <a:prstGeom prst="rect">
            <a:avLst/>
          </a:prstGeom>
          <a:solidFill>
            <a:srgbClr val="F7C948">
              <a:alpha val="50000"/>
            </a:srgbClr>
          </a:solidFill>
          <a:ln w="12700">
            <a:solidFill>
              <a:srgbClr val="F7C948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337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QR code at moment of pickup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30936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Blockchain-traceable chain-of-custody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309360" y="465429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Donor → Rider → Hub → Beneficiary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09360" y="531266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FSSAI-auto-verified every step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098280" y="1508760"/>
            <a:ext cx="2743200" cy="4937760"/>
          </a:xfrm>
          <a:prstGeom prst="rect">
            <a:avLst/>
          </a:prstGeom>
          <a:solidFill>
            <a:srgbClr val="131E35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098280" y="1508760"/>
            <a:ext cx="274320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98280" y="1691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📅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9098280" y="2331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SURPLUS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281160" y="3154680"/>
            <a:ext cx="2377440" cy="36576"/>
          </a:xfrm>
          <a:prstGeom prst="rect">
            <a:avLst/>
          </a:prstGeom>
          <a:solidFill>
            <a:srgbClr val="27AE60">
              <a:alpha val="50000"/>
            </a:srgbClr>
          </a:solidFill>
          <a:ln w="12700">
            <a:solidFill>
              <a:srgbClr val="27AE60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35440" y="3337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Restaurants pre-commit 24-48hrs ahead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235440" y="3995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Micro-Hubs plan meals in advance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235440" y="465429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Track A users get early access deals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235440" y="531266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World's first food surplus pre-market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Safety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isn't a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" y="2834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It's the bedrock.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361188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foodborne illness kills FEEDOO. So we built four walls around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274320"/>
            <a:ext cx="7132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0" y="274320"/>
            <a:ext cx="82296" cy="1417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548640"/>
            <a:ext cx="640080" cy="6400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530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23560" y="384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LOCK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23560" y="676656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DONOR QUALIFICATION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23560" y="103327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FSSAI-licensed donors. Every donor signs a Liability Release Agreement. No license = no account.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63440" y="1847088"/>
            <a:ext cx="7132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847088"/>
            <a:ext cx="82296" cy="1417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121408"/>
            <a:ext cx="640080" cy="6400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23560" y="19568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73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LOCK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23560" y="224942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TRANSIT QUALITY CONTROL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23560" y="26060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ThermoBag monitors every batch. 10-point photo checklist. 90-min max transit or food is composted.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3419856"/>
            <a:ext cx="7132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7C9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419856"/>
            <a:ext cx="82296" cy="1417320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3694176"/>
            <a:ext cx="640080" cy="64008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675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23560" y="35295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C9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LOCK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23560" y="382219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MICRO-HUB GATE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23560" y="417880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quality check before cooking. Standardized FSSAI recipes. Sealed, labeled, allergen-clear packaging.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663440" y="4992624"/>
            <a:ext cx="713232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4992624"/>
            <a:ext cx="82296" cy="1417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5266944"/>
            <a:ext cx="640080" cy="6400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52486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23560" y="51023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LOCK 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23560" y="539496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BENEFICIARY MANAGEMENT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623560" y="575157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communities only. Welfare Card system. Any health incident triggers full trace-back within 24hrs.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Ways We Make Money.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one revenue stream is a startup. Eight revenue streams is a company.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5577840" cy="1170432"/>
          </a:xfrm>
          <a:prstGeom prst="rect">
            <a:avLst/>
          </a:prstGeom>
          <a:solidFill>
            <a:srgbClr val="131E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4632" y="1673352"/>
            <a:ext cx="658368" cy="6583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6733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52704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Tiered Memberships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9659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₹4,999 → ₹18,999/mo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743200"/>
            <a:ext cx="5577840" cy="1170432"/>
          </a:xfrm>
          <a:prstGeom prst="rect">
            <a:avLst/>
          </a:prstGeom>
          <a:solidFill>
            <a:srgbClr val="131E35"/>
          </a:solidFill>
          <a:ln w="12700">
            <a:solidFill>
              <a:srgbClr val="F7C9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" y="2999232"/>
            <a:ext cx="658368" cy="658368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999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85292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 A App Sales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32918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₹50–200 per discount bag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4069080"/>
            <a:ext cx="5577840" cy="1170432"/>
          </a:xfrm>
          <a:prstGeom prst="rect">
            <a:avLst/>
          </a:prstGeom>
          <a:solidFill>
            <a:srgbClr val="131E35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" y="4325112"/>
            <a:ext cx="658368" cy="6583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4325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417880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 Packages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617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₹2,999–₹11,999 per event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5394960"/>
            <a:ext cx="5577840" cy="1170432"/>
          </a:xfrm>
          <a:prstGeom prst="rect">
            <a:avLst/>
          </a:prstGeom>
          <a:solidFill>
            <a:srgbClr val="131E35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" y="5650992"/>
            <a:ext cx="658368" cy="6583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56509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550468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Corporate CSR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59436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₹5L–₹50L per company/year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1417320"/>
            <a:ext cx="5577840" cy="1170432"/>
          </a:xfrm>
          <a:prstGeom prst="rect">
            <a:avLst/>
          </a:prstGeom>
          <a:solidFill>
            <a:srgbClr val="131E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82512" y="1673352"/>
            <a:ext cx="658368" cy="6583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16733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3760" y="152704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Carbon Credits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23760" y="19659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₹500–800 per tonne diverted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17920" y="2743200"/>
            <a:ext cx="5577840" cy="1170432"/>
          </a:xfrm>
          <a:prstGeom prst="rect">
            <a:avLst/>
          </a:prstGeom>
          <a:solidFill>
            <a:srgbClr val="131E35"/>
          </a:solidFill>
          <a:ln w="12700">
            <a:solidFill>
              <a:srgbClr val="F7C9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82512" y="2999232"/>
            <a:ext cx="658368" cy="658368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2999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23760" y="285292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Govt Grants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23760" y="32918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FSSAI, NIDHI, Startup India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17920" y="4069080"/>
            <a:ext cx="5577840" cy="1170432"/>
          </a:xfrm>
          <a:prstGeom prst="rect">
            <a:avLst/>
          </a:prstGeom>
          <a:solidFill>
            <a:srgbClr val="131E35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82512" y="4325112"/>
            <a:ext cx="658368" cy="6583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2512" y="4325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223760" y="417880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B2B Data Insights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223760" y="4617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₹2L–₹10L per report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17920" y="5394960"/>
            <a:ext cx="5577840" cy="1170432"/>
          </a:xfrm>
          <a:prstGeom prst="rect">
            <a:avLst/>
          </a:prstGeom>
          <a:solidFill>
            <a:srgbClr val="131E35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82512" y="5650992"/>
            <a:ext cx="658368" cy="6583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2512" y="56509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223760" y="550468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Biogas Tie-ups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223760" y="59436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per kg rejected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0" y="6236208"/>
            <a:ext cx="12161520" cy="6217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626364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 1 Revenue Target (Jaipur Pilot):  ₹1.62 Crore  |  Operating Cost: ₹85 Lakh  |  Net Surplus: ₹77 Lakh  |  Before any government grants.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Makes a Restaurant Keep Showing Up?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goodwill. ROTI POINTS. A gamified reward system that turns surplus donation into a brand advantage.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3035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087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🏅  HOW RESTAURANTS EARN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29968"/>
            <a:ext cx="493776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1284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pt/kg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0" y="221284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kg of surplus donated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4937760" cy="13716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9008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pts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28800" y="29900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Surplus Futures commitment fulfilled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4937760" cy="13716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6732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pts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28800" y="376732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zero food-safety-incident month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4937760" cy="13716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54456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 pts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828800" y="454456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onboarding another restaurant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4937760" cy="13716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532180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2× Multiplier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828800" y="532180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Diwali, Eid &amp; wedding season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1417320"/>
            <a:ext cx="5577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17920" y="15087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🎁  HOW RESTAURANTS REDEEM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0" y="2029968"/>
            <a:ext cx="521208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22402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🆙  Free tier upgrades (Starter → Growth for 1 month)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400800" y="2944368"/>
            <a:ext cx="5212080" cy="13716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0632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'Zero Hunger Champion' badge on Zomato/Swiggy listing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0" y="3767328"/>
            <a:ext cx="5212080" cy="13716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8862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CSR documentation credit — reduces paid reporting cost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0" y="4590288"/>
            <a:ext cx="5212080" cy="13716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7091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Priority placement on FEEDOO Track A app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400800" y="5413248"/>
            <a:ext cx="5212080" cy="13716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55321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Roti Points Leaderboard — Top 10 get government recognition letter + media coverage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Zero to 15 Cities in 36 Months.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dream. A phased, fundable, FSSAI-cleared execution plan.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1088136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3154680"/>
            <a:ext cx="502920" cy="50292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3474720" cy="1920240"/>
          </a:xfrm>
          <a:prstGeom prst="rect">
            <a:avLst/>
          </a:prstGeom>
          <a:solidFill>
            <a:srgbClr val="131E35"/>
          </a:solidFill>
          <a:ln w="25400">
            <a:solidFill>
              <a:srgbClr val="F7C9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801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F7C9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Foundation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148840" y="3063240"/>
            <a:ext cx="73152" cy="109728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749040"/>
            <a:ext cx="3474720" cy="2606040"/>
          </a:xfrm>
          <a:prstGeom prst="rect">
            <a:avLst/>
          </a:prstGeom>
          <a:solidFill>
            <a:srgbClr val="131E35"/>
          </a:solidFill>
          <a:ln w="12700">
            <a:solidFill>
              <a:srgbClr val="F7C9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8404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FSSAI SFDO registration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3159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Legal docs drafted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79145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3 Micro-Hubs scouted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526694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Apps built (MVP)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74243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NGO partners onboarded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532120" y="3154680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69080" y="1234440"/>
            <a:ext cx="3474720" cy="1920240"/>
          </a:xfrm>
          <a:prstGeom prst="rect">
            <a:avLst/>
          </a:prstGeom>
          <a:solidFill>
            <a:srgbClr val="131E35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69080" y="12801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6908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69080" y="18470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Jaipur Pilot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760720" y="3063240"/>
            <a:ext cx="73152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69080" y="3749040"/>
            <a:ext cx="3474720" cy="2606040"/>
          </a:xfrm>
          <a:prstGeom prst="rect">
            <a:avLst/>
          </a:prstGeom>
          <a:solidFill>
            <a:srgbClr val="131E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60520" y="38404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30 restaurant partners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160520" y="43159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20 certified Riders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160520" y="479145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3 Micro-Hubs LIVE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160520" y="526694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Track A app launched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160520" y="574243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Target: 10,000+ meals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144000" y="315468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0" y="1234440"/>
            <a:ext cx="3474720" cy="1920240"/>
          </a:xfrm>
          <a:prstGeom prst="rect">
            <a:avLst/>
          </a:prstGeom>
          <a:solidFill>
            <a:srgbClr val="131E35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80960" y="12801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0D73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8096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10–18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680960" y="18470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Cities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9372600" y="3063240"/>
            <a:ext cx="73152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80960" y="3749040"/>
            <a:ext cx="3474720" cy="2606040"/>
          </a:xfrm>
          <a:prstGeom prst="rect">
            <a:avLst/>
          </a:prstGeom>
          <a:solidFill>
            <a:srgbClr val="131E35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772400" y="38404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Expand to 3 cities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772400" y="43159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150+ partners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772400" y="479145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8 Micro-Hubs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772400" y="526694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Carbon credits initiated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0" y="574243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 ₹4 Cr revenue run rate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0" y="6199632"/>
            <a:ext cx="12161520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62179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 (Months 19–36):  15+ Cities  ·  50+ Micro-Hubs  ·  10 Million Meals  ·  ₹25 Crore+ Revenue  ·  SDG 2 Recognition Target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Does Winning Look Like?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3. 15 cities. FEEDOO at full flight.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66160" cy="2240280"/>
          </a:xfrm>
          <a:prstGeom prst="rect">
            <a:avLst/>
          </a:prstGeom>
          <a:solidFill>
            <a:srgbClr val="131E35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08760"/>
            <a:ext cx="356616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12M+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Meals Redistributed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449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transformed at Micro-Hubs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508760"/>
            <a:ext cx="3566160" cy="2240280"/>
          </a:xfrm>
          <a:prstGeom prst="rect">
            <a:avLst/>
          </a:prstGeom>
          <a:solidFill>
            <a:srgbClr val="131E35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508760"/>
            <a:ext cx="356616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6916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D73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6,000T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297680" y="2651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Food Diverted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30449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landfills annually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566160" cy="2240280"/>
          </a:xfrm>
          <a:prstGeom prst="rect">
            <a:avLst/>
          </a:prstGeom>
          <a:solidFill>
            <a:srgbClr val="131E35"/>
          </a:solidFill>
          <a:ln w="25400">
            <a:solidFill>
              <a:srgbClr val="F7C9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508760"/>
            <a:ext cx="3566160" cy="73152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6916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7C9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600+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8138160" y="2651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FEEDOO Riders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0" y="30449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employed (gig economy)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3566160" cy="2240280"/>
          </a:xfrm>
          <a:prstGeom prst="rect">
            <a:avLst/>
          </a:prstGeom>
          <a:solidFill>
            <a:srgbClr val="131E35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977640"/>
            <a:ext cx="356616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605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250+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457200" y="5120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SHG Women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55138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employed as Micro-Hub Cooks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3977640"/>
            <a:ext cx="3566160" cy="2240280"/>
          </a:xfrm>
          <a:prstGeom prst="rect">
            <a:avLst/>
          </a:prstGeom>
          <a:solidFill>
            <a:srgbClr val="131E35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0" y="3977640"/>
            <a:ext cx="356616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41605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500+</a:t>
            </a:r>
            <a:endParaRPr lang="en-US" sz="5400" dirty="0"/>
          </a:p>
        </p:txBody>
      </p:sp>
      <p:sp>
        <p:nvSpPr>
          <p:cNvPr id="27" name="Text 25"/>
          <p:cNvSpPr/>
          <p:nvPr/>
        </p:nvSpPr>
        <p:spPr>
          <a:xfrm>
            <a:off x="4297680" y="5120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Restaurant Partners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97680" y="55138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15 cities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3977640"/>
            <a:ext cx="3566160" cy="2240280"/>
          </a:xfrm>
          <a:prstGeom prst="rect">
            <a:avLst/>
          </a:prstGeom>
          <a:solidFill>
            <a:srgbClr val="131E35"/>
          </a:solidFill>
          <a:ln w="25400">
            <a:solidFill>
              <a:srgbClr val="F7C9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8160" y="3977640"/>
            <a:ext cx="3566160" cy="73152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41605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7C9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₹25Cr+</a:t>
            </a:r>
            <a:endParaRPr lang="en-US" sz="5400" dirty="0"/>
          </a:p>
        </p:txBody>
      </p:sp>
      <p:sp>
        <p:nvSpPr>
          <p:cNvPr id="32" name="Text 30"/>
          <p:cNvSpPr/>
          <p:nvPr/>
        </p:nvSpPr>
        <p:spPr>
          <a:xfrm>
            <a:off x="8138160" y="5120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Annual Revenue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38160" y="55138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self-sustaining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3444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FEEDOO Doesn't Just Solve Problems.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Aligns With the United Nations' Global Goals for 2030.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56616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356616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🌾  SDG 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Hunger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3017520" cy="27432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78608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Dual-track delivers paid and free meals. Welfare Card prioritises highest-need zones.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06240" y="1463040"/>
            <a:ext cx="356616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0" y="1463040"/>
            <a:ext cx="356616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600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👩  SDG 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06240" y="2057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Gender Equality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80560" y="2468880"/>
            <a:ext cx="3017520" cy="27432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2578608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SHG women employed as Micro-Hub Cooks and Community Coordinators. Dignity through work.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46720" y="1463040"/>
            <a:ext cx="356616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1463040"/>
            <a:ext cx="356616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1600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73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💼  SDG 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46720" y="2057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Decent Work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321040" y="2468880"/>
            <a:ext cx="3017520" cy="27432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3880" y="2578608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700+ gig economy Rider jobs. 250+ SHG women employed. Tech jobs in Tier-2 cities.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3977640"/>
            <a:ext cx="356616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7C9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977640"/>
            <a:ext cx="3566160" cy="73152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114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7C9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♻️  SDG 12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65760" y="4572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Responsible Consumption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4983480"/>
            <a:ext cx="3017520" cy="27432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5093208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targets SDG 12.3 — halving food waste by 2030. Every kilo tracked.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206240" y="3977640"/>
            <a:ext cx="356616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06240" y="3977640"/>
            <a:ext cx="356616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4114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🌍  SDG 13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206240" y="4572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Climate Action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480560" y="4983480"/>
            <a:ext cx="3017520" cy="27432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3400" y="5093208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Methane avoidance (80x worse than CO₂). Carbon credits registered under Gold Standard.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046720" y="3977640"/>
            <a:ext cx="356616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46720" y="3977640"/>
            <a:ext cx="356616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0" y="4114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🤝  SDG 17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046720" y="4572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Partnerships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321040" y="4983480"/>
            <a:ext cx="3017520" cy="27432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83880" y="5093208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+ restaurants + NGOs + SHGs + tech. A complete multi-stakeholder ecosystem.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828800"/>
            <a:ext cx="8229600" cy="8229600"/>
          </a:xfrm>
          <a:prstGeom prst="ellipse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wastes 78.2 million tonnes.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 million people go hungry.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FEEDOO is the bridge.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59436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974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FEEDOO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More.  Waste Less.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869680" y="548640"/>
            <a:ext cx="3017520" cy="5669280"/>
          </a:xfrm>
          <a:prstGeom prst="rect">
            <a:avLst/>
          </a:prstGeom>
          <a:solidFill>
            <a:srgbClr val="131E35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869680" y="685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PLAN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52560" y="1143000"/>
            <a:ext cx="265176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06840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Dual-Track Model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06840" y="1581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funds Social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06840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Micro-Hub Network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06840" y="21762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→ Fresh Meals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06840" y="2514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+ IoT + Blockchain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06840" y="27706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that protects lives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06840" y="3108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4-Lock Safety System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06840" y="33649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compromise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06840" y="3703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Revenue Streams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06840" y="39593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survive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06840" y="4297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Roti Points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06840" y="45537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grow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06840" y="4892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 Cited Sources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06840" y="51480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real research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06840" y="5486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36-Month Roadmap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06840" y="57424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execute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199632"/>
            <a:ext cx="12161520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62179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food exists. The people exist. The tech exists. The law exists. All that was missing was FEEDOO.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FEEDOO — Feed More. Waste Less.</dc:title>
  <dc:subject>PptxGenJS Presentation</dc:subject>
  <dc:creator>PptxGenJS</dc:creator>
  <cp:lastModifiedBy>PptxGenJS</cp:lastModifiedBy>
  <cp:revision>1</cp:revision>
  <dcterms:created xsi:type="dcterms:W3CDTF">2026-04-28T03:28:31Z</dcterms:created>
  <dcterms:modified xsi:type="dcterms:W3CDTF">2026-04-28T03:28:31Z</dcterms:modified>
</cp:coreProperties>
</file>